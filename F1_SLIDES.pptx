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Quattrocento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hLbCchmUvEvbHdg2HNwKcyyTgs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italic.fntdata"/><Relationship Id="rId30" Type="http://schemas.openxmlformats.org/officeDocument/2006/relationships/font" Target="fonts/QuattrocentoSans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Quattrocento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55949" y="240275"/>
            <a:ext cx="728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it-IT" sz="4000" u="none" cap="none" strike="noStrike">
                <a:solidFill>
                  <a:srgbClr val="C81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 Data Management Project</a:t>
            </a:r>
            <a:endParaRPr b="0" i="0" sz="4000" u="none" cap="none" strike="noStrike">
              <a:solidFill>
                <a:srgbClr val="C810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55950" y="817425"/>
            <a:ext cx="624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it-IT" sz="1700" u="none" cap="none" strike="noStrike">
                <a:solidFill>
                  <a:srgbClr val="C81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did ground effect regulations and budget cap change car performance?</a:t>
            </a:r>
            <a:endParaRPr b="0" i="0" sz="1100" u="none" cap="none" strike="noStrike">
              <a:solidFill>
                <a:srgbClr val="C810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502260" y="4315331"/>
            <a:ext cx="2469000" cy="6402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593700" y="4475351"/>
            <a:ext cx="228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it-IT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 vs Post 2022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700625" y="1620550"/>
            <a:ext cx="4458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Research Question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914400" y="1365146"/>
            <a:ext cx="777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-IT" sz="1900" u="sng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did ground effect regulations and budget 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914400" y="1653784"/>
            <a:ext cx="777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-IT" sz="1900" u="sng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change car performance in Formula 1?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57200" y="2735358"/>
            <a:ext cx="777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1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 Period: 2017-2025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22960" y="3130925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Pre-2022: Traditional high - downforce aero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822960" y="3408718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Post-2022: Ground effect + Budget 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57200" y="3964305"/>
            <a:ext cx="777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Focus: Qualifying lap times on 6 stable circuits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548640" y="124715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t-IT" sz="2800" u="none" cap="none" strike="noStrike">
                <a:solidFill>
                  <a:srgbClr val="C81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280159" y="1280160"/>
            <a:ext cx="51111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it-IT" sz="24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Sources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280160" y="16459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API, Entity Resolution, LLM, ATR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548639" y="2163562"/>
            <a:ext cx="73151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t-IT" sz="2800" u="none" cap="none" strike="noStrike">
                <a:solidFill>
                  <a:srgbClr val="C81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1280160" y="2194560"/>
            <a:ext cx="3657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it-IT" sz="24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280160" y="25603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Preparation, Integration, Quality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48639" y="3079974"/>
            <a:ext cx="6515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t-IT" sz="2800" u="none" cap="none" strike="noStrike">
                <a:solidFill>
                  <a:srgbClr val="C81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280160" y="3108960"/>
            <a:ext cx="48318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it-IT" sz="24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storage and conclusion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280160" y="3474720"/>
            <a:ext cx="6400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Field Spread by Era, Storage, Performance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8102E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457200" y="16459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it-IT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552574" y="1863864"/>
            <a:ext cx="74961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it-IT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 flipH="1" rot="10800000">
            <a:off x="1658225" y="2506774"/>
            <a:ext cx="2871600" cy="2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Sources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457200" y="1097280"/>
            <a:ext cx="777240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Jolpica API - Qualifying results (3,853 records)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457200" y="1444752"/>
            <a:ext cx="777240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Entity Resolution - Team name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457200" y="1792224"/>
            <a:ext cx="777240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OpenAI GPT-5-mini - FIA Regulations (46 entries)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457200" y="2187029"/>
            <a:ext cx="461513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FIA ATR - Wind tunnel/CFD allocations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sp>
        <p:nvSpPr>
          <p:cNvPr id="141" name="Google Shape;141;p5"/>
          <p:cNvSpPr txBox="1"/>
          <p:nvPr/>
        </p:nvSpPr>
        <p:spPr>
          <a:xfrm>
            <a:off x="598575" y="2571750"/>
            <a:ext cx="8229600" cy="238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all_results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[]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offset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050" u="none" cap="none" strike="noStrike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limit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it-IT" sz="10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url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"https://api.jolpi.ca/ergast/f1/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/qualifying.json?limit=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limit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&amp;offset=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offset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response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requests.get(url)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data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response.json()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races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data[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'MRData'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'RaceTable'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'Races'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it-IT" sz="10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races: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it-IT" sz="10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endParaRPr b="0" i="0" sz="1050" u="none" cap="none" strike="noStrike">
              <a:solidFill>
                <a:srgbClr val="C586C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highlight>
                <a:srgbClr val="43434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050" u="none" cap="none" strike="noStrike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 1: Qualifying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API: api.jolpi.ca/ergast/f1/{year}/qualifying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457200" y="15544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Data Collected (2017-2025):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822960" y="1901952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2017: 20 races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822960" y="2249424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2020: 17 races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822960" y="2596896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2024-2025: 24 races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57200" y="305409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Total: 3,853 qualifying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 2: Entity Resolution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457200" y="1097280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Problem: Team names changed over years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457200" y="15544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Mappings Applied: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822960" y="1901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Toro Rosso → AlphaTauri → RB F1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794960" y="2257824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Sauber → Alfa Romeo → Sauber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822960" y="2596896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Force India → Racing Point → Aston Martin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822956" y="2944376"/>
            <a:ext cx="3052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Renault → Alpine F1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457200" y="3401568"/>
            <a:ext cx="777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Result: Consistent Team_Entity column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sp>
        <p:nvSpPr>
          <p:cNvPr id="171" name="Google Shape;171;p7"/>
          <p:cNvSpPr txBox="1"/>
          <p:nvPr/>
        </p:nvSpPr>
        <p:spPr>
          <a:xfrm>
            <a:off x="365750" y="3721675"/>
            <a:ext cx="8229600" cy="133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TEAM_ENTITY_MAP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'Force India'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'Aston Martin'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'Racing Point'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'Aston Martin'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'Aston Martin'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'Aston Martin'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df_qualifying[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'Team_Entity'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df_qualifying[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'Team'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].apply(resolve_team_entity)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586C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6300" y="3035463"/>
            <a:ext cx="1397214" cy="4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9025" y="2827375"/>
            <a:ext cx="834500" cy="76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7153450" y="3082900"/>
            <a:ext cx="412800" cy="25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49009" y="1554475"/>
            <a:ext cx="766052" cy="766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21524" y="1577385"/>
            <a:ext cx="1341102" cy="64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7089000" y="1821613"/>
            <a:ext cx="412800" cy="290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368150" y="1035675"/>
            <a:ext cx="1931400" cy="3849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 3: LLM Regulations Extraction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Model: OpenAI GPT-5-mini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457200" y="1554480"/>
            <a:ext cx="777240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Method: Prompt-based JSON extraction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822960" y="1901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Fields: Year, Type, Description,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822960" y="224942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Types: Aero / Financial / Safety /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457200" y="2706624"/>
            <a:ext cx="777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Output: 46 regulations entries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822960" y="305409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2017: 6 entries | 2022: 8 entries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sp>
        <p:nvSpPr>
          <p:cNvPr id="193" name="Google Shape;193;p8"/>
          <p:cNvSpPr txBox="1"/>
          <p:nvPr/>
        </p:nvSpPr>
        <p:spPr>
          <a:xfrm>
            <a:off x="5083100" y="940200"/>
            <a:ext cx="3512400" cy="4120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get_regulations_from_openai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it-IT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prompt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'''For 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F1 season, list main regulation changes.</a:t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 JSON array: [</a:t>
            </a:r>
            <a:r>
              <a:rPr b="0" i="0" lang="it-IT" sz="1050" u="none" cap="none" strike="noStrike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"Year": 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"Type": "Aero/Financial/Safety/Engine", "Description": "...", "Impact": "Major/Minor/Revolutionary", "Source": "FIA 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it-IT" sz="1050" u="none" cap="none" strike="noStrike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Only JSON.'''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response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openai.chat.completions.create(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it-IT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OPENAI_MODEL,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it-IT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messages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[{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'role'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'user'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'content'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prompt}],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it-IT" sz="10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response.choices[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].message.content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304799" y="237518"/>
            <a:ext cx="9058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 4: Aerodynamic Testing Restrictions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402385" y="1253821"/>
            <a:ext cx="8477252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Wind Tunnel</a:t>
            </a: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1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recreate controlled airflow, test models and measure to see the aerodynamic forces, drag, and downforce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408493" y="2013506"/>
            <a:ext cx="6682419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Quattrocento Sans"/>
              <a:buNone/>
            </a:pPr>
            <a:r>
              <a:rPr b="0" i="0" lang="it-IT" sz="1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1" i="0" lang="it-IT" sz="1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CFD </a:t>
            </a:r>
            <a:r>
              <a:rPr b="0" i="0" lang="it-IT" sz="1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(Computational Fluid Dynamics): replicate the same phenomena through complex mathematical calculations</a:t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Immagine che contiene schermata&#10;&#10;Il contenuto generato dall'IA potrebbe non essere corretto." id="203" name="Google Shape;203;p9"/>
          <p:cNvPicPr preferRelativeResize="0"/>
          <p:nvPr/>
        </p:nvPicPr>
        <p:blipFill rotWithShape="1">
          <a:blip r:embed="rId3">
            <a:alphaModFix/>
          </a:blip>
          <a:srcRect b="9354" l="0" r="0" t="0"/>
          <a:stretch/>
        </p:blipFill>
        <p:spPr>
          <a:xfrm>
            <a:off x="4641011" y="2629699"/>
            <a:ext cx="4502989" cy="2513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 txBox="1"/>
          <p:nvPr/>
        </p:nvSpPr>
        <p:spPr>
          <a:xfrm>
            <a:off x="402375" y="2773200"/>
            <a:ext cx="5667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</a:t>
            </a:r>
            <a:r>
              <a:rPr b="0" i="0" lang="it-IT" sz="19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2022 &gt;ART 70% - 115%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&gt;WT </a:t>
            </a:r>
            <a:r>
              <a:rPr lang="it-IT" sz="190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224</a:t>
            </a:r>
            <a:r>
              <a:rPr b="0" i="0" lang="it-IT" sz="19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</a:t>
            </a:r>
            <a:r>
              <a:rPr lang="it-IT" sz="190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368</a:t>
            </a:r>
            <a:r>
              <a:rPr b="0" i="0" lang="it-IT" sz="19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hours /y </a:t>
            </a:r>
            <a:r>
              <a:rPr lang="it-IT" sz="190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100% 320h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&gt;CFD 1400 - </a:t>
            </a:r>
            <a:r>
              <a:rPr lang="it-IT" sz="190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2300</a:t>
            </a:r>
            <a:r>
              <a:rPr b="0" i="0" lang="it-IT" sz="19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hours /y </a:t>
            </a:r>
            <a:r>
              <a:rPr lang="it-IT" sz="190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100% 2000h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110725" y="4117875"/>
            <a:ext cx="4348200" cy="92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atr_percentages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0.70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0.75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0.80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0.85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0.90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0.95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1.00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1.05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1.10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1.15}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8102E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/>
          <p:nvPr/>
        </p:nvSpPr>
        <p:spPr>
          <a:xfrm>
            <a:off x="457200" y="16459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it-IT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2286000" y="1920240"/>
            <a:ext cx="64008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it-IT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 flipH="1" rot="10800000">
            <a:off x="2346525" y="2628125"/>
            <a:ext cx="3065100" cy="32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457200" y="228600"/>
            <a:ext cx="8229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Analysis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457199" y="1211139"/>
            <a:ext cx="8229600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Data Preparation &amp; Data Integration – Time, Pole Position, GAP, Era      labeling, Linking all data together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457199" y="1927170"/>
            <a:ext cx="4612104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Data Quality - Completness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454171" y="2740986"/>
            <a:ext cx="461513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Fastest Lap Comparison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454171" y="3125707"/>
            <a:ext cx="461513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454171" y="2332731"/>
            <a:ext cx="652459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Analysis Methodology - Fastest Lap Comparison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 txBox="1"/>
          <p:nvPr/>
        </p:nvSpPr>
        <p:spPr>
          <a:xfrm>
            <a:off x="457200" y="363748"/>
            <a:ext cx="8953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t-IT" sz="28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 1: Data Preparation &amp; Data Integration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171125" y="1363650"/>
            <a:ext cx="38151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-IT" sz="13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it-IT" sz="13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</a:t>
            </a:r>
            <a:r>
              <a:rPr b="0" i="0" lang="it-IT" sz="13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Parsing </a:t>
            </a:r>
            <a:endParaRPr b="0" i="0" sz="1300" u="none" cap="none" strike="noStrike">
              <a:solidFill>
                <a:srgbClr val="1E1E2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-IT" sz="13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Ex: </a:t>
            </a:r>
            <a:r>
              <a:rPr b="0" i="0" lang="it-IT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"1:22.456" into total seconds 82.456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-IT" sz="13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it-IT" sz="13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Pole Position </a:t>
            </a:r>
            <a:r>
              <a:rPr b="0" i="0" lang="it-IT" sz="13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</a:t>
            </a:r>
            <a:endParaRPr b="0" i="0" sz="1300" u="none" cap="none" strike="noStrike">
              <a:solidFill>
                <a:srgbClr val="1E1E2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-IT" sz="13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Ex: </a:t>
            </a:r>
            <a:r>
              <a:rPr b="0" i="0" lang="it-IT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Australia 2023 pole is 79.215s, </a:t>
            </a:r>
            <a:r>
              <a:rPr lang="it-IT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 repeated for every driver to compare it to his best time on qualifying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-IT" sz="13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it-IT" sz="13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Gap</a:t>
            </a:r>
            <a:r>
              <a:rPr b="0" i="0" lang="it-IT" sz="13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Calculation</a:t>
            </a:r>
            <a:endParaRPr b="0" i="0" sz="1300" u="none" cap="none" strike="noStrike">
              <a:solidFill>
                <a:srgbClr val="1E1E2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-IT" sz="13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Ex: </a:t>
            </a:r>
            <a:r>
              <a:rPr b="0" i="0" lang="it-IT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Pole sitter gets 0.000, P2 might get +0.215 (0.215s slower)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-IT" sz="13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it-IT" sz="13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Era Labeling</a:t>
            </a:r>
            <a:endParaRPr b="1" i="0" sz="1300" u="none" cap="none" strike="noStrike">
              <a:solidFill>
                <a:srgbClr val="1E1E2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-IT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Ex: before 2022 as 'Pre-2022' and after 2022 as 'Post-2022'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-IT" sz="13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0" i="0" lang="it-IT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Aggregated </a:t>
            </a:r>
            <a:r>
              <a:rPr b="1" i="0" lang="it-IT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regulations by year </a:t>
            </a:r>
            <a:endParaRPr b="1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-IT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Ex: how many regulation changes for each year 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537075" y="886975"/>
            <a:ext cx="234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4213625" y="886975"/>
            <a:ext cx="164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-IT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4040150" y="1489600"/>
            <a:ext cx="5103900" cy="4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0" i="0" lang="it-IT" sz="1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Merged </a:t>
            </a:r>
            <a:r>
              <a:rPr b="1" i="0" lang="it-IT" sz="1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regulations with qualifying data</a:t>
            </a:r>
            <a:endParaRPr b="1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90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df_qualifying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90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90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df_qualifying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it-IT" sz="90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merge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it-IT" sz="90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reg_summary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90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b="0" i="0" lang="it-IT" sz="90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90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'Year'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90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how</a:t>
            </a:r>
            <a:r>
              <a:rPr b="0" i="0" lang="it-IT" sz="90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90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'left'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0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r>
              <a:rPr b="0" i="0" lang="it-IT" sz="1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Merged </a:t>
            </a:r>
            <a:r>
              <a:rPr b="1" i="0" lang="it-IT" sz="1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ATR</a:t>
            </a:r>
            <a:r>
              <a:rPr b="0" i="0" lang="it-IT" sz="1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data by year and team</a:t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90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df_qualifying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90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90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df_qualifying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it-IT" sz="90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merge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90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it-IT" sz="90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df_atr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b="0" i="0" lang="it-IT" sz="90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'Year'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90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'Team'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90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'ATR_Percentage'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90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'WT_RunsAnnual'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it-IT" sz="90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'CFD_ItemsAnnual'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]],</a:t>
            </a:r>
            <a:endParaRPr b="0" i="0" sz="90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it-IT" sz="90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b="0" i="0" lang="it-IT" sz="90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it-IT" sz="90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'Year'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90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'Team'</a:t>
            </a: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z="90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it-IT" sz="90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how</a:t>
            </a:r>
            <a:r>
              <a:rPr b="0" i="0" lang="it-IT" sz="90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90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'left'</a:t>
            </a:r>
            <a:endParaRPr b="0" i="0" sz="90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90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0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457200" y="363748"/>
            <a:ext cx="8953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t-IT" sz="28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Circuit Performance Pre vs Post 2022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457200" y="96012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t-IT" sz="14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Dry conditions only — 6 stable circuits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uit_performance_dry_only.png" id="245" name="Google Shape;2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197" y="1384747"/>
            <a:ext cx="5720366" cy="354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457200" y="363748"/>
            <a:ext cx="8953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t-IT" sz="28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 2: Data Quality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testo, schermata, Carattere, numero&#10;&#10;Il contenuto generato dall'IA potrebbe non essere corretto." id="254" name="Google Shape;2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00" y="1315862"/>
            <a:ext cx="7747000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sp>
        <p:nvSpPr>
          <p:cNvPr id="256" name="Google Shape;256;p14"/>
          <p:cNvSpPr txBox="1"/>
          <p:nvPr/>
        </p:nvSpPr>
        <p:spPr>
          <a:xfrm>
            <a:off x="884950" y="3280525"/>
            <a:ext cx="34800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-IT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Results:</a:t>
            </a:r>
            <a:endParaRPr b="1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Q1: 100.0%</a:t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Q2: 74.1% (expected)</a:t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Q3: 49.3% (expected)</a:t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4197800" y="3522725"/>
            <a:ext cx="4247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ATR_Percentage: 45.2% (expected)</a:t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WT_RunsAnnual: 45.2% (expected)</a:t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CFD_ItemsAnnual: 45.2% (expected)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457200" y="331744"/>
            <a:ext cx="8229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t-IT" sz="28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 3: Analysis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Stable Circuits (unchanged layout):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822960" y="1444752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Monza • Monaco • Spa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822960" y="1792224"/>
            <a:ext cx="777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Red Bull Ring • Suzuka • Hungaroring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50505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457200" y="224942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Metric: Delta = Post_2022 − Pre_2022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822960" y="259689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Positive → Slower | Negative → Faster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457200" y="3054096"/>
            <a:ext cx="777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Comparison: Best qualifying lap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pic>
        <p:nvPicPr>
          <p:cNvPr id="272" name="Google Shape;27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8122" y="993075"/>
            <a:ext cx="2803503" cy="15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3925" y="2782725"/>
            <a:ext cx="2931902" cy="164920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5"/>
          <p:cNvSpPr txBox="1"/>
          <p:nvPr/>
        </p:nvSpPr>
        <p:spPr>
          <a:xfrm>
            <a:off x="6654100" y="1113575"/>
            <a:ext cx="1056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-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Monaco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6654100" y="3198100"/>
            <a:ext cx="8340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-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Fastest Lap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t-IT" sz="14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Detailed lap time delta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uit_fastest_9.png" id="284" name="Google Shape;2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0772" y="1338570"/>
            <a:ext cx="4746731" cy="375871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6"/>
          <p:cNvSpPr/>
          <p:nvPr/>
        </p:nvSpPr>
        <p:spPr>
          <a:xfrm>
            <a:off x="4954050" y="1371600"/>
            <a:ext cx="45000" cy="5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 txBox="1"/>
          <p:nvPr/>
        </p:nvSpPr>
        <p:spPr>
          <a:xfrm>
            <a:off x="4871100" y="1257138"/>
            <a:ext cx="21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it-IT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8102E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/>
          <p:nvPr/>
        </p:nvSpPr>
        <p:spPr>
          <a:xfrm>
            <a:off x="457200" y="16459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it-IT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860884" y="1925419"/>
            <a:ext cx="6400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-IT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storage and conclusion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1949125" y="2620237"/>
            <a:ext cx="5597400" cy="2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457200" y="228600"/>
            <a:ext cx="8229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Storage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457200" y="1281073"/>
            <a:ext cx="777240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SQLite - Final data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457200" y="1692313"/>
            <a:ext cx="567515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WDC/WCC Champions Winners (Jopica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457200" y="2103553"/>
            <a:ext cx="461513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Performance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457200" y="2462866"/>
            <a:ext cx="461513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Conclusion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pic>
        <p:nvPicPr>
          <p:cNvPr id="307" name="Google Shape;30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3000" y="2567162"/>
            <a:ext cx="3566537" cy="1991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Storage: SQLite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Database: f1_data_management.db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457200" y="15544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Tables: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822960" y="1901952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seasons (9), record (~90), drivers (~180)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822960" y="224942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events (~190 with pole positions)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822960" y="259689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regulations (46 LLM-extracted)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822960" y="2944368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circuit_performance (6 stable circuits)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sp>
        <p:nvSpPr>
          <p:cNvPr id="322" name="Google Shape;322;p19"/>
          <p:cNvSpPr txBox="1"/>
          <p:nvPr/>
        </p:nvSpPr>
        <p:spPr>
          <a:xfrm>
            <a:off x="457200" y="3401575"/>
            <a:ext cx="43641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df_teams 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pd.DataFrame(teams_list)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df_teams.to_sql(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'teams'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conn, </a:t>
            </a:r>
            <a:r>
              <a:rPr b="0" i="0" lang="it-IT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it-IT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if_exists</a:t>
            </a:r>
            <a:r>
              <a:rPr b="0" i="0" lang="it-IT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'replace'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-IT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"teams: 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it-IT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(df_teams)</a:t>
            </a:r>
            <a:r>
              <a:rPr b="0" i="0" lang="it-IT" sz="10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0" i="0" lang="it-IT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records"</a:t>
            </a:r>
            <a:r>
              <a:rPr b="0" i="0" lang="it-IT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457200" y="345460"/>
            <a:ext cx="88248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t-IT" sz="28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Storage: WDC/WCC Champions Winners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457200" y="895969"/>
            <a:ext cx="777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The implementation uses two Jolpica API endpoints: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447134" y="3672369"/>
            <a:ext cx="777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it-IT" sz="19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This data serves for critical analytical purposes: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748345" y="4005325"/>
            <a:ext cx="3398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Regulatory Impact Assessment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748346" y="1285600"/>
            <a:ext cx="25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/driverstandings/1.json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3168822" y="1289875"/>
            <a:ext cx="30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/constructorstandings/1.json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sp>
        <p:nvSpPr>
          <p:cNvPr id="336" name="Google Shape;336;p20"/>
          <p:cNvSpPr txBox="1"/>
          <p:nvPr/>
        </p:nvSpPr>
        <p:spPr>
          <a:xfrm>
            <a:off x="553600" y="1682500"/>
            <a:ext cx="7227000" cy="22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8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get_driver_standings_winner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it-IT" sz="8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8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url </a:t>
            </a:r>
            <a:r>
              <a:rPr b="0" i="0" lang="it-IT" sz="8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"https://api.jolpi.ca/ergast/f1/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/driverstandings/1.json"</a:t>
            </a:r>
            <a:endParaRPr b="0" i="0" sz="8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response </a:t>
            </a:r>
            <a:r>
              <a:rPr b="0" i="0" lang="it-IT" sz="8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requests.get(url)</a:t>
            </a:r>
            <a:endParaRPr b="0" i="0" sz="8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data </a:t>
            </a:r>
            <a:r>
              <a:rPr b="0" i="0" lang="it-IT" sz="8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response.json()[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'MRData'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'StandingsTable'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'StandingsLists'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8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it-IT" sz="8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data 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data[</a:t>
            </a:r>
            <a:r>
              <a:rPr b="0" i="0" lang="it-IT" sz="8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].get(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'DriverStandings'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8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ds </a:t>
            </a:r>
            <a:r>
              <a:rPr b="0" i="0" lang="it-IT" sz="8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data[</a:t>
            </a:r>
            <a:r>
              <a:rPr b="0" i="0" lang="it-IT" sz="8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'DriverStandings'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it-IT" sz="8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8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it-IT" sz="8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8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'name'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ds[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'Driver'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'givenName'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ds[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'Driver'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'familyName'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8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'team'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ds[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'Constructors'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it-IT" sz="8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'name'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it-IT" sz="8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ds.get(</a:t>
            </a:r>
            <a:r>
              <a:rPr b="0" i="0" lang="it-IT" sz="8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'Constructors'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it-IT" sz="8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i="0" sz="850" u="none" cap="none" strike="noStrike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8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it-IT" sz="8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it-IT" sz="8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-IT" sz="850" u="none" cap="none" strike="noStrike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i="0" sz="850" u="none" cap="none" strike="noStrike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54575" y="913075"/>
            <a:ext cx="464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2022 Ground Effect Regulations: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273338" y="1260547"/>
            <a:ext cx="464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-IT" sz="15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+40kg minimum weight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273338" y="1608019"/>
            <a:ext cx="464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-IT" sz="15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Venturi tunnels for downforce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273338" y="1955491"/>
            <a:ext cx="464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-IT" sz="15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18-inch wheels, reduced complex aero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54575" y="2412691"/>
            <a:ext cx="464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Budget Cap Impact ($145M → lower):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273338" y="2760163"/>
            <a:ext cx="464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-IT" sz="15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Equalized development resources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273338" y="3107635"/>
            <a:ext cx="464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-IT" sz="1500" u="none" cap="none" strike="noStrike">
                <a:solidFill>
                  <a:srgbClr val="505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ATR allocations favor lower-ranked teams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pic>
        <p:nvPicPr>
          <p:cNvPr id="352" name="Google Shape;352;p21"/>
          <p:cNvPicPr preferRelativeResize="0"/>
          <p:nvPr/>
        </p:nvPicPr>
        <p:blipFill rotWithShape="1">
          <a:blip r:embed="rId4">
            <a:alphaModFix/>
          </a:blip>
          <a:srcRect b="18331" l="9530" r="9563" t="3724"/>
          <a:stretch/>
        </p:blipFill>
        <p:spPr>
          <a:xfrm rot="3">
            <a:off x="4363049" y="913089"/>
            <a:ext cx="4472874" cy="2005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3050" y="2944375"/>
            <a:ext cx="3377376" cy="219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575" y="3455075"/>
            <a:ext cx="2709475" cy="15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1"/>
          <p:cNvSpPr txBox="1"/>
          <p:nvPr/>
        </p:nvSpPr>
        <p:spPr>
          <a:xfrm>
            <a:off x="2764050" y="3595750"/>
            <a:ext cx="126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-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covid it was reduced to 145M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t-IT" sz="3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CDCE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457200" y="979718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3,853 qualifying results from Jolpica API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457200" y="1327190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Entity resolution for 16 team variants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457200" y="1674662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 regulations extracted via LLM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457200" y="2022134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SQLite database with 6 normalized tables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457200" y="2369606"/>
            <a:ext cx="777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-IT" sz="17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Quantitative analysis on 6 circuits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425" y="126375"/>
            <a:ext cx="1262249" cy="68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pic>
        <p:nvPicPr>
          <p:cNvPr descr="f1_field_spread_analysis.png" id="369" name="Google Shape;3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723600"/>
            <a:ext cx="6775687" cy="2419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p22"/>
          <p:cNvCxnSpPr/>
          <p:nvPr/>
        </p:nvCxnSpPr>
        <p:spPr>
          <a:xfrm>
            <a:off x="1278325" y="2999525"/>
            <a:ext cx="2284800" cy="10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22"/>
          <p:cNvCxnSpPr/>
          <p:nvPr/>
        </p:nvCxnSpPr>
        <p:spPr>
          <a:xfrm>
            <a:off x="4831475" y="3019675"/>
            <a:ext cx="1509900" cy="50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2" name="Google Shape;372;p22"/>
          <p:cNvSpPr txBox="1"/>
          <p:nvPr/>
        </p:nvSpPr>
        <p:spPr>
          <a:xfrm>
            <a:off x="7232875" y="2999525"/>
            <a:ext cx="126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-IT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21% narrower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 txBox="1"/>
          <p:nvPr/>
        </p:nvSpPr>
        <p:spPr>
          <a:xfrm>
            <a:off x="457200" y="2032254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it-IT" sz="5200" u="none" cap="none" strike="noStrike">
                <a:solidFill>
                  <a:srgbClr val="1E1E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 txBox="1"/>
          <p:nvPr/>
        </p:nvSpPr>
        <p:spPr>
          <a:xfrm>
            <a:off x="457200" y="2808327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